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274" r:id="rId5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2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4" y="-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6D5FC-F2E6-431F-88E0-A552A8457D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6F405-F87E-4A74-A2E1-BB3E5E0646B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IN" altLang="en-US"/>
              <a:t>Speaker Note:</a:t>
            </a:r>
            <a:endParaRPr lang="en-IN" altLang="en-US"/>
          </a:p>
          <a:p>
            <a:pPr eaLnBrk="1" hangingPunct="1">
              <a:spcBef>
                <a:spcPct val="0"/>
              </a:spcBef>
            </a:pPr>
            <a:endParaRPr lang="en-IN" altLang="en-US"/>
          </a:p>
        </p:txBody>
      </p:sp>
      <p:sp>
        <p:nvSpPr>
          <p:cNvPr id="410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057A866-E95A-46AA-B1F6-62BD0ABCF296}" type="slidenum">
              <a:rPr lang="en-IN" altLang="en-US">
                <a:latin typeface="Calibri" panose="020F0502020204030204" pitchFamily="34" charset="0"/>
              </a:rPr>
            </a:fld>
            <a:endParaRPr lang="en-I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47A9B-87AB-4ED0-9532-60B9368301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E20CE-3959-452A-A4E1-1C82EBFA0B2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96553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11440" y="4427538"/>
            <a:ext cx="4205288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500" b="1" dirty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Shivam Raj | Desari Yogesh Lesyak | Armaan Anil Narang | Anushka Gupta</a:t>
            </a:r>
            <a:r>
              <a:rPr lang="en-US" b="1" cap="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Shivam Raj | Desari Yogesh Lesyak | Armaan Anil Narang | Anushka Gupta</a:t>
            </a:r>
            <a:endParaRPr lang="en-US" b="1" cap="all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1500" cap="all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1DS25EC244 | 1DS25EC082 | 1DS25EC050 | 1DS25EC047</a:t>
            </a:r>
            <a:endParaRPr lang="en-US" sz="1500" b="1" cap="all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2" descr="Image result for Vtu 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0" y="115864"/>
            <a:ext cx="103346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960120" y="3858895"/>
            <a:ext cx="3886200" cy="1733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435"/>
              </a:spcBef>
              <a:buClr>
                <a:schemeClr val="accent1"/>
              </a:buClr>
              <a:buSzPct val="85000"/>
              <a:defRPr/>
            </a:pP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35"/>
              </a:spcBef>
              <a:buClr>
                <a:schemeClr val="accent1"/>
              </a:buClr>
              <a:buSzPct val="85000"/>
              <a:defRPr/>
            </a:pP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35"/>
              </a:spcBef>
              <a:buClr>
                <a:schemeClr val="accent1"/>
              </a:buClr>
              <a:buSzPct val="85000"/>
              <a:defRPr/>
            </a:pPr>
            <a:r>
              <a:rPr lang="en-US" sz="1500" b="1" dirty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 Guidance of :</a:t>
            </a: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35"/>
              </a:spcBef>
              <a:buClr>
                <a:schemeClr val="accent1"/>
              </a:buClr>
              <a:buSzPct val="85000"/>
              <a:defRPr/>
            </a:pPr>
            <a:r>
              <a:rPr lang="en-US" sz="1500" b="1" dirty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Sumit Swain</a:t>
            </a: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35"/>
              </a:spcBef>
              <a:buClr>
                <a:schemeClr val="accent1"/>
              </a:buClr>
              <a:buSzPct val="85000"/>
              <a:defRPr/>
            </a:pPr>
            <a:r>
              <a:rPr lang="en-US" sz="1500" b="1" dirty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Dept. of ECE, DSCE</a:t>
            </a: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35"/>
              </a:spcBef>
              <a:buClr>
                <a:schemeClr val="accent1"/>
              </a:buClr>
              <a:buSzPct val="85000"/>
              <a:defRPr/>
            </a:pPr>
            <a:endParaRPr lang="en-US" sz="15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2812" y="422958"/>
            <a:ext cx="876692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800" dirty="0">
                <a:solidFill>
                  <a:schemeClr val="tx2">
                    <a:lumMod val="50000"/>
                  </a:schemeClr>
                </a:solidFill>
              </a:rPr>
              <a:t>DAYANANDA SAGAR COLLEGE OF ENGINEERING 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>
              <a:defRPr/>
            </a:pPr>
            <a:r>
              <a:rPr lang="en-IN" sz="1600" dirty="0"/>
              <a:t>(An Autonomous Institute affiliated to VTU)</a:t>
            </a:r>
            <a:endParaRPr lang="en-IN" sz="1600" dirty="0"/>
          </a:p>
          <a:p>
            <a:pPr algn="ctr">
              <a:defRPr/>
            </a:pPr>
            <a:endParaRPr lang="en-IN" sz="1600" b="1" dirty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IN" sz="2400" b="1" dirty="0" smtClean="0"/>
              <a:t>Department Of Information Science And Engineering</a:t>
            </a:r>
            <a:endParaRPr lang="en-IN" sz="2400" b="1" dirty="0" smtClean="0"/>
          </a:p>
          <a:p>
            <a:pPr algn="ctr">
              <a:defRPr/>
            </a:pPr>
            <a:endParaRPr lang="en-IN" sz="1500" b="1" dirty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54480" y="1965651"/>
            <a:ext cx="960120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24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/>
          </a:p>
          <a:p>
            <a:r>
              <a:rPr lang="en-US" sz="2400" dirty="0" smtClean="0"/>
              <a:t>          INNOVATION AND DESIGN THINKING LAB (1BIDTL158)</a:t>
            </a:r>
            <a:r>
              <a:rPr lang="en-US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INNOVATION AND DESIGN THINKING LAB (1BIDTL158)</a:t>
            </a:r>
            <a:r>
              <a:rPr lang="en-US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INNOVATION AND DESIGN THINKING LAB (1BIDTL158)</a:t>
            </a:r>
            <a:r>
              <a:rPr lang="en-IN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INNOVATION AND DESIGN THINKING LAB (1BIDTL158)</a:t>
            </a:r>
            <a:r>
              <a:rPr lang="en-US" altLang="en-IN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INNOVATION AND DESIGN THINKING LAB (1BIDTL158)</a:t>
            </a:r>
            <a:r>
              <a:rPr lang="en-US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INNOVATION AND DESIGN THINKING LAB (1BIDTL158)</a:t>
            </a:r>
            <a:endParaRPr lang="en-US" sz="2400" b="1" dirty="0" smtClean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First Year Mini  Project progress Presentation on</a:t>
            </a:r>
            <a:endParaRPr lang="en-US" sz="2400" b="1" dirty="0" smtClean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Nanoparticles based Sensors for Microplastics Detection in Drinking Water based on Fractional Order Modelling</a:t>
            </a:r>
            <a:endParaRPr lang="en-US" sz="2400" b="1" dirty="0" smtClean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solidFill>
                  <a:srgbClr val="C0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C00000"/>
              </a:solidFill>
              <a:effectLst>
                <a:outerShdw blurRad="50800" dist="381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1" name="image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810" y="23487"/>
            <a:ext cx="11430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315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altLang="en-US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905000" y="1438910"/>
            <a:ext cx="8229600" cy="519049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Survey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Problem Identification</a:t>
            </a:r>
            <a:r>
              <a:rPr lang="en-US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altLang="en-US" sz="2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 &amp; Proposed System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Sensor Fabrication &amp; Hardware Design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Initial Data Collection &amp; Results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Current Status  (50% Completed)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Future Work &amp; Remaining Milestones</a:t>
            </a:r>
            <a:endParaRPr lang="en-US" alt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t>9. References</a:t>
            </a:r>
            <a:endParaRPr lang="en-US" alt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6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Microplastic contamination in drinking water is a growing global health and environmental concern.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Microplastics (&lt; 5 mm) originate from plastic waste breakdown, industrial discharge, and daily human activities.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Conventional detection methods (filtration, microscopy, spectroscopy) are costly and require lab facilities.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This project develops a simple, low-cost capacitive sensor using MWCNT-epoxy nanocomposite dielectric.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The sensor detects microplastics by measuring changes in impedance and fractional-order parameter.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Fractional-order electrical modelling accurately captures the non-ideal behaviour of the sensor.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* The approach is non-destructive, reagent-free, and suitable for routine water quality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2.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* Filtration-Microscopy: common but slow, expert-intensive, unsuitable for on-site testing.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* Spectroscopic methods (FTIR, Raman): accurate but require complex instrumentation.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* Capacitive/impedance sensors: detect changes in liquid electrical properties — simpler and faster.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* CNT/polymer nanocomposites enhance sensitivity via improved charge transport and interfacial interactions.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* Fractional-order CPE models effectively represent non-ideal, memory-dependent sensor behaviour.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Gap Identified: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* No prior work combines CNT-epoxy capacitive sensors with fractional-order phase analysis for microplastic detection.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Key References: Swain et al. (IETE 2023), Swain et al. (AEU 2024), Nayak et al. (J. Food Eng. 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3. 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Problem Statement: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Existing microplastic detection methods require expensive equipment and are unsuitable for routine on-site monitoring.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A simple, low-cost, non-destructive technique is needed for regular drinking water quality assessment.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Objectives: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1. Fabricate a capacitive sensor using MWCNT-epoxy composite as the sensing dielectric.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2. Study the effect of microplastics on output voltage amplitude and phase under AC excitation.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3. Analyse changes in electrical response caused by different microplastic concentrations.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4. Apply fractional-order model to describe non-ideal sensor behaviour.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5. Evaluate the sensor for drinking water quality monitoring applications.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SDG Alignment: SDG 6 (Clean Water &amp; Sanitation)  |  SDG 14 (Life Below Water)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4. Methodology &amp;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System Block Diagram: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[Function Generator: 1 kHz to 10 MHz]  --&gt;  [CNT-Epoxy Capacitive Sensor in Water]  --&gt;  [DSO]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Working Principle: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* AC voltage applied across sensor; DSO records output amplitude and phase at each frequency.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* Microplastics displace water between electrodes --&gt; change in effective dielectric constant.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* Changes in impedance magnitude and phase shift indicate microplastic presence and concentration.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Fractional-Order Model (CPE):  Z(jw) = 1 / [C * (jw)^a]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* C = capacitance (uF); a = fractional order exponent (0 &lt; a &lt; 1).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* Both C and a increase proportionally with microplastic concentration.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002060"/>
                </a:solidFill>
              </a:rPr>
              <a:t>  * Calibration equations derived: y = 0.0051x (linear) and y = 7.6*(e^(0.47*(c-17))-1) (exponential).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5. Sensor Fabrication &amp; Hardware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Sensing Material (Dielectric):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50 mg Multi-Walled Carbon Nanotubes (MWCNT) mixed with 10 g epoxy resin; cured.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MWCNT enhances electrical response through improved charge transport pathways.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Sensor Structure: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Two parallel copper plate electrodes with MWCNT-epoxy composite as dielectric.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Housed in 3D-printed rectangular casing (designed using 3D printing software).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Experimental Setup (Assembled &amp; Verified):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Function Generator connected to sensor; DSO monitors input and output signals simultaneously.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Channel 1 (DSO): input from generator | Channel 2 (DSO): output across sensor.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* Frequency swept from 1 kHz to 10 MHz; peak-to-peak voltage and phase recorded at each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6. Initial Data Collection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Samples Tested So Far: 0 mg, 10 mg, 20 mg microplastics per 250 ml water.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Observations: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* Clean water: voltage decreases gradually with frequency (characteristic capacitive response).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* With microplastics: voltage decreases more rapidly; phase shift increases with concentration.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* Distinct separation between curves confirms sensor sensitivity to microplastic content.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Extracted Electrical Parameters (Partial Dataset):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Concentration   Capacitance   Phase (6-500 kHz)   Fractional Order (a)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0 mg / 250 ml   13.5 uF        -7.5 deg            0.083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10 mg / 250 ml  16.8 uF       -10.5 deg            0.116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  20 mg / 250 ml  17.9 uF       -15.0 deg            0.167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Note: Data for 30 mg/250 ml to be completed in upcoming weeks.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7. Current Status  (50% 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Phase 1: Problem Identification &amp; Literature Survey -- COMPLETED (Weeks 1-4)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Team formed; topic finalized; 6+ papers reviewed; SDG alignment identified.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Phase 2: Concept Development &amp; Design -- COMPLETED (Weeks 5-7)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CNT-epoxy composite design finalized; 3D sensor casing designed &amp; printed; materials procured.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Phase 3: Prototype Development -- COMPLETED (Weeks 8-11)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Sensor fabricated &amp; assembled; experimental circuit set up and verified.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Baseline (clean water) measurements done; initial microplastic experiments conducted.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Partial data collected for 0 mg, 10 mg, 20 mg concentrations.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Overall Progress:  |XXXXXXXXXX...........|  ~50% Complete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CIE Phases 1-3 completed: 10 + 20 + 30 = 60% of CIE weightage covered.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8. Future Work &amp; Remaining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Phase 4: Testing &amp; Validation (Weeks 12-13)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Collect data for 30 mg/250 ml; conduct repeated measurements for statistical validation.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Verify calibration equations with unknown water samples.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Phase 5: Documentation &amp; Analysis (Weeks 13-14)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Complete project report with full data analysis, error analysis, and comparison tables.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Finalise all graphs: Magnitude vs Frequency, Phase vs Frequency, Conc. vs a, Conc. vs 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Phase 6: Final Demo &amp; Social Pitch (Weeks 15-16)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Develop optimisation algorithm to estimate microplastic concentration from sensor readings.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Build software interface for real-time microplastic content display.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>
                <a:solidFill>
                  <a:srgbClr val="002060"/>
                </a:solidFill>
              </a:rPr>
              <a:t>  -&gt; Final project demonstration and IPBL social pitch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FFFFFF"/>
                </a:solidFill>
              </a:rPr>
              <a:t>9.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[1] S. Swain, M. C. Tripathy, and S. Behera, 'Particle swarm optimization-based bandpass filter using switched-fractional capacitors,' IETE J. Res., vol. 69, no. 12, pp. 9183-9194, 2023.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[2] S. Swain, M. C. Tripathy, et al., 'Implementation of a fractional-inductor and its performance in a high-frequency LalphaR integrator circuit,' AEU, p. 155114, 2024.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[3] S. Swain, M. C. Tripathy, S. Behera, and A. Dastidar, 'Experimental analysis of ripening stages using fractional-order bio-impedance modelling,' IETE J. Res., 2025.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[4] B. Nayak, S. Swain, and M. C. Tripathy, 'Fractional order bioimpedance modeling for sensing fruit properties,' J. Food Eng., vol. 397, 2025.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[5] S. Swain, M. C. Tripathy, K. C. Bhuyan, and S. Behera, 'Wide-band fractional-order filter design using coaxial TEM fractional-inductor,' Next Research, 2025.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/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>
                <a:solidFill>
                  <a:srgbClr val="002060"/>
                </a:solidFill>
              </a:rPr>
              <a:t>[6] B. Nayak, S. Swain, H. Patra, and M. C. Tripathy, 'Fractional capacitor-based bio-impedance analysis for sensing pH in potatoes,' ICDCECE,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WPS Presentation</Application>
  <PresentationFormat>Custom</PresentationFormat>
  <Paragraphs>38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Agenda</vt:lpstr>
      <vt:lpstr>        		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Abhimanyu</dc:creator>
  <cp:lastModifiedBy>ISE1</cp:lastModifiedBy>
  <cp:revision>12</cp:revision>
  <dcterms:created xsi:type="dcterms:W3CDTF">2023-07-27T08:13:00Z</dcterms:created>
  <dcterms:modified xsi:type="dcterms:W3CDTF">2026-05-06T13:53:57Z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655B71B1B1E14AC08FF8BEFA75F5A863_13</vt:lpwstr>
  </property>
  <property fmtid="{D5CDD505-2E9C-101B-9397-08002B2CF9AE}" pid="3" name="KSOProductBuildVer">
    <vt:lpwstr>1033-12.2.0.13306</vt:lpwstr>
  </property>
</Properties>
</file>